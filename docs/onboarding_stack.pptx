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9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Notre stack 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A9EEA"/>
                </a:solidFill>
              </a:rPr>
              <a:t>Vue d'ensemble — Onboarding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BBCC"/>
                </a:solidFill>
              </a:rPr>
              <a:t>Meltano  →  BigQuery  →  dbt  → 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</a:rPr>
              <a:t>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Vue d'ensemble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1920240" cy="438912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2E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1261872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C107"/>
                </a:solidFill>
              </a:rPr>
              <a:t>Systèmes
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164592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1031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</a:rPr>
              <a:t>Oracle · MSSQL
Yuman · Nespresso
SFTP / GCS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9424" y="3291839"/>
            <a:ext cx="182880" cy="0"/>
          </a:xfrm>
          <a:prstGeom prst="line">
            <a:avLst/>
          </a:prstGeom>
          <a:ln w="25400">
            <a:solidFill>
              <a:srgbClr val="55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404872" y="1097280"/>
            <a:ext cx="1920240" cy="4389120"/>
          </a:xfrm>
          <a:prstGeom prst="rect">
            <a:avLst/>
          </a:prstGeom>
          <a:solidFill>
            <a:srgbClr val="E3F2FD"/>
          </a:solidFill>
          <a:ln w="1905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2E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8024" y="1261872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9EEA"/>
                </a:solidFill>
              </a:rPr>
              <a:t>Extraction
Meltano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2032" y="1965960"/>
            <a:ext cx="1645920" cy="27432"/>
          </a:xfrm>
          <a:prstGeom prst="rect">
            <a:avLst/>
          </a:prstGeom>
          <a:solidFill>
            <a:srgbClr val="4A9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2" y="21031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</a:rPr>
              <a:t>Connecteurs open-source
vers BigQuery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34256" y="3291839"/>
            <a:ext cx="182880" cy="0"/>
          </a:xfrm>
          <a:prstGeom prst="line">
            <a:avLst/>
          </a:prstGeom>
          <a:ln w="25400">
            <a:solidFill>
              <a:srgbClr val="55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489704" y="1097280"/>
            <a:ext cx="1920240" cy="4389120"/>
          </a:xfrm>
          <a:prstGeom prst="rect">
            <a:avLst/>
          </a:prstGeom>
          <a:solidFill>
            <a:srgbClr val="EEEEFF"/>
          </a:solidFill>
          <a:ln w="1905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2E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1261872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C6BC0"/>
                </a:solidFill>
              </a:rPr>
              <a:t>Data Lake
prod_raw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26864" y="1965960"/>
            <a:ext cx="1645920" cy="27432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1031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</a:rPr>
              <a:t>Données brutes
Copie fidèle des sources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19088" y="3291839"/>
            <a:ext cx="182879" cy="0"/>
          </a:xfrm>
          <a:prstGeom prst="line">
            <a:avLst/>
          </a:prstGeom>
          <a:ln w="25400">
            <a:solidFill>
              <a:srgbClr val="55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574536" y="1097280"/>
            <a:ext cx="1920240" cy="4389120"/>
          </a:xfrm>
          <a:prstGeom prst="rect">
            <a:avLst/>
          </a:prstGeom>
          <a:solidFill>
            <a:srgbClr val="E8F5E9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2E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1261872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4A853"/>
                </a:solidFill>
              </a:rPr>
              <a:t>Transformation
dbt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11696" y="1965960"/>
            <a:ext cx="1645920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5976" y="21031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</a:rPr>
              <a:t>3 couches
Staging → Intermediate → Marts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03920" y="3291839"/>
            <a:ext cx="182880" cy="0"/>
          </a:xfrm>
          <a:prstGeom prst="line">
            <a:avLst/>
          </a:prstGeom>
          <a:ln w="25400">
            <a:solidFill>
              <a:srgbClr val="55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659368" y="1097280"/>
            <a:ext cx="1920240" cy="4389120"/>
          </a:xfrm>
          <a:prstGeom prst="rect">
            <a:avLst/>
          </a:prstGeom>
          <a:solidFill>
            <a:srgbClr val="FFEBEE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2E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1261872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53935"/>
                </a:solidFill>
              </a:rPr>
              <a:t>Visualisation
Power BI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96528" y="1965960"/>
            <a:ext cx="1645920" cy="2743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0808" y="21031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2E"/>
                </a:solidFill>
              </a:rPr>
              <a:t>Rapports métier
lus depuis prod_marts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7"/>
                </a:solidFill>
              </a:rPr>
              <a:t>← chaque nuit, automatiquement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Les sources de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34747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3474720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875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</a:rPr>
              <a:t>Oracle Neshu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7"/>
                </a:solidFill>
              </a:rPr>
              <a:t>ERP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1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Tâches · Machines
Clients · Produits
Roadmen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868680"/>
            <a:ext cx="34747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868680"/>
            <a:ext cx="3474720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9875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</a:rPr>
              <a:t>Oracle LCDP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7"/>
                </a:solidFill>
              </a:rPr>
              <a:t>ERP secondaire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4591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Données LCDP
(activité secondaire)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868680"/>
            <a:ext cx="34747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868680"/>
            <a:ext cx="3474720" cy="73152"/>
          </a:xfrm>
          <a:prstGeom prst="rect">
            <a:avLst/>
          </a:prstGeom>
          <a:solidFill>
            <a:srgbClr val="FF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9875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030"/>
                </a:solidFill>
              </a:rPr>
              <a:t>MSSQL 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7"/>
                </a:solidFill>
              </a:rPr>
              <a:t>Comptabilité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4591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Données
financières
et comptables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39"/>
            <a:ext cx="34747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291839"/>
            <a:ext cx="3474720" cy="73152"/>
          </a:xfrm>
          <a:prstGeom prst="rect">
            <a:avLst/>
          </a:prstGeom>
          <a:solidFill>
            <a:srgbClr val="4A9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41071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9EEA"/>
                </a:solidFill>
              </a:rPr>
              <a:t>Yuman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7947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7"/>
                </a:solidFill>
              </a:rPr>
              <a:t>API 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06907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Bons d'intervention
techniciens terrain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291839"/>
            <a:ext cx="34747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8E2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291839"/>
            <a:ext cx="3474720" cy="7315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41071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E24AA"/>
                </a:solidFill>
              </a:rPr>
              <a:t>Nespresso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947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7"/>
                </a:solidFill>
              </a:rPr>
              <a:t>APIs partenaires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06907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Données Nespresso
Tech &amp; Commerce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291839"/>
            <a:ext cx="34747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291839"/>
            <a:ext cx="3474720" cy="7315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341071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97B"/>
                </a:solidFill>
              </a:rPr>
              <a:t>SFTP / GCS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7947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7"/>
                </a:solidFill>
              </a:rPr>
              <a:t>Fichiers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069079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Assurance flotte
Stocks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355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7"/>
                </a:solidFill>
              </a:rPr>
              <a:t>Oracle &amp; MSSQL sont on-premise (serveurs EVS). Meltano y accède depuis GCP via une IP fixe dédiée.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L'extraction — Meltano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Meltano est un outil open source qui extrait les données
des sources et les charge dans BigQuery.
Il utilise des connecteurs :
  • tap  =  connecteur source (lit les données)
  • target  =  connecteur destination (écrit dans BigQuery)
Meltano tourne dans des Cloud Run Jobs —
des conteneurs serverless qui démarrent, font leur job,
et s'arrêtent. Un job par 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303520" cy="9144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2E"/>
                </a:solidFill>
              </a:rPr>
              <a:t>Sources
(Oracle · MSSQL · APIs · Fichiers)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869680" y="2011680"/>
            <a:ext cx="0" cy="640080"/>
          </a:xfrm>
          <a:prstGeom prst="line">
            <a:avLst/>
          </a:prstGeom>
          <a:ln w="31750">
            <a:solidFill>
              <a:srgbClr val="4A9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17920" y="20299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77"/>
                </a:solidFill>
              </a:rPr>
              <a:t>tap-oracle · tap-mssql · tap-rest ·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697480"/>
            <a:ext cx="5303520" cy="914400"/>
          </a:xfrm>
          <a:prstGeom prst="rect">
            <a:avLst/>
          </a:prstGeom>
          <a:solidFill>
            <a:srgbClr val="E3F2FD"/>
          </a:solidFill>
          <a:ln w="1905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2E"/>
                </a:solidFill>
              </a:rPr>
              <a:t>Meltano
(Cloud Run Job)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69680" y="3611880"/>
            <a:ext cx="0" cy="640080"/>
          </a:xfrm>
          <a:prstGeom prst="line">
            <a:avLst/>
          </a:prstGeom>
          <a:ln w="31750">
            <a:solidFill>
              <a:srgbClr val="4A9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17920" y="36301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577"/>
                </a:solidFill>
              </a:rPr>
              <a:t>target-bigquery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97680"/>
            <a:ext cx="5303520" cy="914400"/>
          </a:xfrm>
          <a:prstGeom prst="rect">
            <a:avLst/>
          </a:prstGeom>
          <a:solidFill>
            <a:srgbClr val="EEEEFF"/>
          </a:solidFill>
          <a:ln w="1905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2E"/>
                </a:solidFill>
              </a:rPr>
              <a:t>BigQuery  prod_raw
(données brutes)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La transformation — dbt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A1A2E"/>
                </a:solidFill>
              </a:rPr>
              <a:t>dbt transforme les données brutes de prod_raw en tables propres, structurées, prêtes pour Power BI.
Chaque fichier SQL = un modèle = une table dans BigQuery.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2423160" cy="4114800"/>
          </a:xfrm>
          <a:prstGeom prst="rect">
            <a:avLst/>
          </a:prstGeom>
          <a:solidFill>
            <a:srgbClr val="EEEEFF"/>
          </a:solidFill>
          <a:ln w="2540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09928"/>
            <a:ext cx="2240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6BC0"/>
                </a:solidFill>
              </a:rPr>
              <a:t>prod_raw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167128"/>
            <a:ext cx="2203704" cy="27432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22037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Données brutes
Colonnes sources
Types natifs Oracle/MSSQL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98648" y="3657600"/>
            <a:ext cx="301752" cy="0"/>
          </a:xfrm>
          <a:prstGeom prst="line">
            <a:avLst/>
          </a:prstGeom>
          <a:ln w="31750">
            <a:solidFill>
              <a:srgbClr val="55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18688" y="1600200"/>
            <a:ext cx="2423160" cy="4114800"/>
          </a:xfrm>
          <a:prstGeom prst="rect">
            <a:avLst/>
          </a:prstGeom>
          <a:solidFill>
            <a:srgbClr val="E8F5E9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709928"/>
            <a:ext cx="2240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4A853"/>
                </a:solidFill>
              </a:rPr>
              <a:t>prod_staging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8416" y="2167128"/>
            <a:ext cx="2203704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2286000"/>
            <a:ext cx="22037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Nettoyage
• Cast des types (INT64, TIMESTAMP…)
• Renommage
• 1 modèle = 1 table source
• Pas de logique métier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0136" y="3657600"/>
            <a:ext cx="301752" cy="0"/>
          </a:xfrm>
          <a:prstGeom prst="line">
            <a:avLst/>
          </a:prstGeom>
          <a:ln w="31750">
            <a:solidFill>
              <a:srgbClr val="55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980176" y="1600200"/>
            <a:ext cx="2423160" cy="4114800"/>
          </a:xfrm>
          <a:prstGeom prst="rect">
            <a:avLst/>
          </a:prstGeom>
          <a:solidFill>
            <a:srgbClr val="FFF8E1"/>
          </a:solidFill>
          <a:ln w="25400">
            <a:solidFill>
              <a:srgbClr val="FFA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1616" y="1709928"/>
            <a:ext cx="2240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A026"/>
                </a:solidFill>
              </a:rPr>
              <a:t>prod_intermediate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9904" y="2167128"/>
            <a:ext cx="2203704" cy="27432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2286000"/>
            <a:ext cx="22037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Logique métier
• Séparation par type de tâche
• Jointures entre entités
• Calculs (quantités, valorisation)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21624" y="3657600"/>
            <a:ext cx="301752" cy="0"/>
          </a:xfrm>
          <a:prstGeom prst="line">
            <a:avLst/>
          </a:prstGeom>
          <a:ln w="31750">
            <a:solidFill>
              <a:srgbClr val="55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741664" y="1600200"/>
            <a:ext cx="2423160" cy="4114800"/>
          </a:xfrm>
          <a:prstGeom prst="rect">
            <a:avLst/>
          </a:prstGeom>
          <a:solidFill>
            <a:srgbClr val="FFEBEE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33104" y="1709928"/>
            <a:ext cx="2240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53935"/>
                </a:solidFill>
              </a:rPr>
              <a:t>prod_marts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51392" y="2167128"/>
            <a:ext cx="2203704" cy="2743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2286000"/>
            <a:ext cx="22037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Prêt pour Power BI
• dim_* — référentiels
• fct_* — faits
• Dénormalisé, partitionné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126480"/>
            <a:ext cx="11247120" cy="27432"/>
          </a:xfrm>
          <a:prstGeom prst="rect">
            <a:avLst/>
          </a:prstGeom>
          <a:solidFill>
            <a:srgbClr val="D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7"/>
                </a:solidFill>
              </a:rPr>
              <a:t>Règle : on ne saute jamais une couche — un mart ne lit jamais prod_raw directement.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L'orchestration — Cloud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Deux services GCP orchestrent tout automatiquement :
Cloud Scheduler
→  Le planificateur (cron).
    Déclenche les pipelines à heure fixe.
Cloud Workflows
→  Le chef d'orchestre.
    Enchaîne les étapes dans l'ordre,
    attend la fin de chaque job,
    envoie une alerte email si ça échoue.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914400"/>
            <a:ext cx="548640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FFA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914400"/>
            <a:ext cx="109728" cy="713232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987552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026"/>
                </a:solidFill>
              </a:rPr>
              <a:t>Cloud Scheduler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29844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7"/>
                </a:solidFill>
              </a:rPr>
              <a:t>01h00 chaque nuit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0" y="1636776"/>
            <a:ext cx="0" cy="237744"/>
          </a:xfrm>
          <a:prstGeom prst="line">
            <a:avLst/>
          </a:prstGeom>
          <a:ln w="25400">
            <a:solidFill>
              <a:srgbClr val="55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943600" y="1883664"/>
            <a:ext cx="548640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883664"/>
            <a:ext cx="109728" cy="713232"/>
          </a:xfrm>
          <a:prstGeom prst="rect">
            <a:avLst/>
          </a:prstGeom>
          <a:solidFill>
            <a:srgbClr val="4A9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956816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9EEA"/>
                </a:solidFill>
              </a:rPr>
              <a:t>Cloud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26771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7"/>
                </a:solidFill>
              </a:rPr>
              <a:t>pipeline-oracle-neshu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0" y="2606039"/>
            <a:ext cx="0" cy="237745"/>
          </a:xfrm>
          <a:prstGeom prst="line">
            <a:avLst/>
          </a:prstGeom>
          <a:ln w="25400">
            <a:solidFill>
              <a:srgbClr val="55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943600" y="2852928"/>
            <a:ext cx="548640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2852928"/>
            <a:ext cx="109728" cy="713232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92608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6BC0"/>
                </a:solidFill>
              </a:rPr>
              <a:t>Cloud Run — Meltano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23697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7"/>
                </a:solidFill>
              </a:rPr>
              <a:t>Extraction Oracle Neshu → prod_raw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3575304"/>
            <a:ext cx="0" cy="237744"/>
          </a:xfrm>
          <a:prstGeom prst="line">
            <a:avLst/>
          </a:prstGeom>
          <a:ln w="25400">
            <a:solidFill>
              <a:srgbClr val="55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943600" y="3822191"/>
            <a:ext cx="548640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3822191"/>
            <a:ext cx="109728" cy="7132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895344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</a:rPr>
              <a:t>Cloud Run — dbt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20624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7"/>
                </a:solidFill>
              </a:rPr>
              <a:t>Transformation → prod_marts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0" y="4544568"/>
            <a:ext cx="0" cy="237744"/>
          </a:xfrm>
          <a:prstGeom prst="line">
            <a:avLst/>
          </a:prstGeom>
          <a:ln w="25400">
            <a:solidFill>
              <a:srgbClr val="55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943600" y="4791456"/>
            <a:ext cx="548640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4791456"/>
            <a:ext cx="109728" cy="71323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86460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935"/>
                </a:solidFill>
              </a:rPr>
              <a:t>Power BI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17550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577"/>
                </a:solidFill>
              </a:rPr>
              <a:t>Refresh du rapport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Récapitulatif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91440" cy="566928"/>
          </a:xfrm>
          <a:prstGeom prst="rect">
            <a:avLst/>
          </a:prstGeom>
          <a:solidFill>
            <a:srgbClr val="4A9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9EEA"/>
                </a:solidFill>
              </a:rPr>
              <a:t>Meltano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98755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Extraction — lit les sources et charge dans BigQuery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91440" cy="56692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2763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6BC0"/>
                </a:solidFill>
              </a:rPr>
              <a:t>Cloud Run 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27631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Conteneurs serverless qui exécutent Meltano et dbt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48839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48839"/>
            <a:ext cx="91440" cy="56692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6771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6BC0"/>
                </a:solidFill>
              </a:rPr>
              <a:t>BigQuery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267711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Stockage de toutes les couches (prod_raw, staging, marts)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88920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788920"/>
            <a:ext cx="91440" cy="56692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90779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853"/>
                </a:solidFill>
              </a:rPr>
              <a:t>dbt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907791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Transformation SQL en 3 couches (staging → intermediate → marts)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29000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29000"/>
            <a:ext cx="91440" cy="566928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478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026"/>
                </a:solidFill>
              </a:rPr>
              <a:t>Cloud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54787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Orchestration — enchaîne extraction + transformation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69080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069080"/>
            <a:ext cx="91440" cy="566928"/>
          </a:xfrm>
          <a:prstGeom prst="rect">
            <a:avLst/>
          </a:prstGeom>
          <a:solidFill>
            <a:srgbClr val="FF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1879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026"/>
                </a:solidFill>
              </a:rPr>
              <a:t>Cloud Scheduler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18795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Planificateur — déclenche les pipelines à heure fixe (cron)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09159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709159"/>
            <a:ext cx="91440" cy="56692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82803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53935"/>
                </a:solidFill>
              </a:rPr>
              <a:t>Power BI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828031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Visualisation — lit prod_marts, construit les rapports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349240"/>
            <a:ext cx="11247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349240"/>
            <a:ext cx="91440" cy="566928"/>
          </a:xfrm>
          <a:prstGeom prst="rect">
            <a:avLst/>
          </a:prstGeom>
          <a:solidFill>
            <a:srgbClr val="55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4681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6577"/>
                </a:solidFill>
              </a:rPr>
              <a:t>Terraform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546811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Infrastructure as Code — toute la config GCP est versionnée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9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Pour aller plus loin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468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9EEA"/>
                </a:solidFill>
              </a:rPr>
              <a:t>docs/onboarding_oracle_neshu.md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163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Guide détaillé de la source Oracle Neshu et de l'architecture dbt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3375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9EEA"/>
                </a:solidFill>
              </a:rPr>
              <a:t>CONTRIBUTING.md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685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Workflow de contribution, conventions, commandes utiles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06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9EEA"/>
                </a:solidFill>
              </a:rPr>
              <a:t>CONVENTIONS.md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537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Règles de nommage, patterns SQL, stratégie de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74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9EEA"/>
                </a:solidFill>
              </a:rPr>
              <a:t>dbt docs generate &amp;&amp; dbt docs 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4223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</a:rPr>
              <a:t>Graphe de lignage interactif de tous les modèles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